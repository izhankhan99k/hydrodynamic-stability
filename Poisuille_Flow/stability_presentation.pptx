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007A"/>
    <a:srgbClr val="860D86"/>
    <a:srgbClr val="FFCBCB"/>
    <a:srgbClr val="090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889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8-week summer project: linear stability of channel flow with melting walls. Overview of the journey from classical Orr-Sommerfeld theory to the coupled phase-change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the language: stable/neutral/unstable. Im(c) is the key scalar that tells us everything about linear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pendulum analogy makes stability concrete. At high Re the inertial terms overwhelm viscous damping — analogous to the inverted pendulum losing its restoring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solid mechanics to fluid flows. The Reynolds number is the key control parameter — low Re is laminar, high Re leads to turbulence.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 instability is the most visually striking example of hydrodynamic instability. The rolling pattern appears in clouds, oceans, and Jupiter's atmosphere.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Poiseuille flow is the canonical base state. It's an exact solution of the Navier-Stokes equations. Our stability analysis asks: is this base state robust?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normal mode (Fourier mode in x) reduces the linearized PDE to an ODE in y, leading to an eigenvalue problem for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linearization step is what makes the problem tractable. It converts nonlinear PDEs into a linear eigenvalue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Orr-Sommerfeld equation was derived independently in 1907-1908. It is the cornerstone of hydrodynamic stability theory. Note: for inviscid flow (Re→∞) it reduces to the Rayleigh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BCs for a 4th-order ODE — this is a well-posed Sturm-Liouville-type problem. The homogeneous problem only has non-trivial solutions for special eigenvalues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imaginary part of the eigenvalue is the decisive quantity. Most modes in Poiseuille flow are stable; only a narrow band in (α,Re) space is unstable.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benchmark replicates the result first computed accurately by Orszag (1971). It validates the Dedalus EVP solver before tackling the harder melting-wall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TS mode is the physically relevant one for channel flow transition. The centre modes are spurious in the sense that they don't lead to turbulence in this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neutral curve is the primary deliverable of classical stability theory. For Re below 5772 all wavelengths are stable — but the basin of attraction shrinks as Re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main project goal. Adding phase change converts the fixed-domain OS problem into a free-boundary eigenvalue problem. The Stefan number St and conductivity ratio are new control parameters alongside 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163B5E">
              <a:alpha val="30000"/>
            </a:srgbClr>
          </a:solidFill>
          <a:ln w="12700">
            <a:solidFill>
              <a:srgbClr val="163B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2651760"/>
            <a:ext cx="3657600" cy="36576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589520" y="-365760"/>
            <a:ext cx="2286000" cy="2286000"/>
          </a:xfrm>
          <a:prstGeom prst="ellipse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863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Stability of Channel Flow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Melting Top and Bottom Walls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74720" y="2743200"/>
            <a:ext cx="219456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Research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Izhan Khan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Dynamics  ·  Hydrodynamic Stability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Stability?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93776" y="772917"/>
            <a:ext cx="8229600" cy="13441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925422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is </a:t>
            </a: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r>
              <a:rPr lang="en-US" sz="16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if infinitesimal perturbations about its equilibrium state remain bounded or decay in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ECFDF5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64408"/>
            <a:ext cx="24688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decays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flow returns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equilibrium state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0128" y="22402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10128" y="2304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01568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01568" y="3264408"/>
            <a:ext cx="24688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neither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nor decays 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stability curve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63056" y="2240280"/>
            <a:ext cx="2651760" cy="2606040"/>
          </a:xfrm>
          <a:prstGeom prst="roundRect">
            <a:avLst>
              <a:gd name="adj" fmla="val 4211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63056" y="23042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54496" y="28529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54496" y="3264408"/>
            <a:ext cx="2468880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grows,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eventually 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transition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1536441"/>
            <a:ext cx="8229600" cy="6764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Equilibrium States: The Pendulum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mechanics offers the most intuitive model for stability: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4233672"/>
            <a:ext cx="494864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Equilibrium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365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18688" y="1353312"/>
            <a:ext cx="2670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920240"/>
            <a:ext cx="248716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89176" y="4233672"/>
            <a:ext cx="5198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Unstable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Equilibrium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81344" y="473659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5405D9-84A3-26CF-1030-F4B0DB57E8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91" t="8978" r="6420" b="14068"/>
          <a:stretch>
            <a:fillRect/>
          </a:stretch>
        </p:blipFill>
        <p:spPr>
          <a:xfrm>
            <a:off x="1425936" y="1307592"/>
            <a:ext cx="6108192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Hydrodynamic Stability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flows also respond to perturbations </a:t>
            </a: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(wall roughness, vibrations, inlet disturbances)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6457" y="1371600"/>
            <a:ext cx="3869094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5821" y="1481328"/>
            <a:ext cx="41390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Laminar 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5820" y="1828800"/>
            <a:ext cx="3508311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ordered motion. Perturbations decay. Characteristic of low Reynolds-number regimes</a:t>
            </a: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5820" y="2578608"/>
            <a:ext cx="41390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5820" y="2926080"/>
            <a:ext cx="357673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Perturbations begin to grow. Coherent structures (rolls, streaks, Tollmien-Schlichting waves) emerge.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820" y="3675888"/>
            <a:ext cx="41390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Turbulent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5820" y="3806890"/>
            <a:ext cx="3638939" cy="929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Chaotic disordered motion. Dramatic increase in mixing, drag, and heat transfer.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14151" y="1371600"/>
            <a:ext cx="4172649" cy="3429000"/>
          </a:xfrm>
          <a:prstGeom prst="roundRect">
            <a:avLst>
              <a:gd name="adj" fmla="val 2667"/>
            </a:avLst>
          </a:prstGeom>
          <a:solidFill>
            <a:srgbClr val="DCE8F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212080" y="1371600"/>
            <a:ext cx="347472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s4.jpeg ]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2393553-C087-322C-8119-8375A42FDA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04" t="15624" r="4513" b="15713"/>
          <a:stretch>
            <a:fillRect/>
          </a:stretch>
        </p:blipFill>
        <p:spPr>
          <a:xfrm>
            <a:off x="4559870" y="2017776"/>
            <a:ext cx="4081209" cy="2193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Phenomenological Example: Kelvin-Helmholtz Instability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Arises at the interface of two fluid layers moving at different speeds: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4713" y="1371600"/>
            <a:ext cx="4297680" cy="3169574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866947" cy="2747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r>
              <a:rPr lang="en-US" sz="14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shear at the interface creates a pressure difference. Small bumps are swept downstream and amplified, rolling into characteristic spiral vortices.
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occurs
</a:t>
            </a:r>
            <a:r>
              <a:rPr lang="en-US" sz="1600" b="1" dirty="0"/>
              <a:t> </a:t>
            </a: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Ocean-atmosphere boundary layer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Cloud formations in wind shear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1371600"/>
            <a:ext cx="3749040" cy="3087278"/>
          </a:xfrm>
          <a:prstGeom prst="roundRect">
            <a:avLst>
              <a:gd name="adj" fmla="val 2667"/>
            </a:avLst>
          </a:prstGeom>
          <a:solidFill>
            <a:srgbClr val="DCE8F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kh.jpeg ]</a:t>
            </a: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63AE70-46D2-2A68-6E88-AF047CA43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213"/>
          <a:stretch>
            <a:fillRect/>
          </a:stretch>
        </p:blipFill>
        <p:spPr>
          <a:xfrm>
            <a:off x="5076806" y="1654629"/>
            <a:ext cx="3470948" cy="24733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 Poiseuille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unperturbed base state: pressure-driven flow between two infinite rigid parallel plates.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20624" y="1411597"/>
            <a:ext cx="4114800" cy="2944990"/>
          </a:xfrm>
          <a:prstGeom prst="roundRect">
            <a:avLst>
              <a:gd name="adj" fmla="val 265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356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Velocity Profile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64916" cy="545219"/>
          </a:xfrm>
          <a:prstGeom prst="roundRect">
            <a:avLst>
              <a:gd name="adj" fmla="val 14706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20624" y="1801368"/>
            <a:ext cx="4535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U(y)  =  1 − y²,    −1 &lt; y &lt;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at y = ±1 (half-channel width h = 1)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Driving: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pressure gradient −dP/dx &gt; 0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Parabolic, maximum U_max = 1 at y = 0
</a:t>
            </a:r>
            <a:endParaRPr lang="en-US" sz="1200" dirty="0"/>
          </a:p>
          <a:p>
            <a:pPr marL="0" indent="0">
              <a:buNone/>
            </a:pPr>
            <a:r>
              <a:rPr lang="en-US" sz="1200" b="1" i="1" dirty="0">
                <a:solidFill>
                  <a:srgbClr val="16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= U_max h/ν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controls the flow stability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71527" y="1353312"/>
            <a:ext cx="4015273" cy="2944990"/>
          </a:xfrm>
          <a:prstGeom prst="roundRect">
            <a:avLst>
              <a:gd name="adj" fmla="val 2857"/>
            </a:avLst>
          </a:prstGeom>
          <a:solidFill>
            <a:srgbClr val="DCE8F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0" y="1353312"/>
            <a:ext cx="3200400" cy="3447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pp.jpeg ]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156CE9-18B3-5DB6-7B64-B1C7EF4742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43" t="7604" r="6631" b="11076"/>
          <a:stretch>
            <a:fillRect/>
          </a:stretch>
        </p:blipFill>
        <p:spPr>
          <a:xfrm>
            <a:off x="4901183" y="1825378"/>
            <a:ext cx="3602737" cy="17824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Perturbations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the flow into base state + infinitesimal perturbation, then assume normal mode solutions: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353312"/>
            <a:ext cx="790041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u(x,y,t) = U(y) + ε û(x,y,t),     p(x,y,t) = P(x) + ε p̂(x,y,t),     ε ≪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Mode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1792" y="2441448"/>
            <a:ext cx="79004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ẇ(x, y, t)  =  w(y) · e^{</a:t>
            </a:r>
            <a:r>
              <a:rPr lang="en-US" sz="1700" i="1" dirty="0" err="1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r>
              <a:rPr lang="en-US" sz="17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α(x − ct)}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40690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α: 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wavenumber — sets the spatial scale of the perturbation in 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3246120"/>
            <a:ext cx="40690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0" y="324612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cᵣ + icᵢ: 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wave speed: real part = phase speed, imaginary part = growth/decay rate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40690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40233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cᵢ &gt; 0: 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growth — the flow is linearly UNSTABLE to this mode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4023360"/>
            <a:ext cx="40690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4023360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cᵢ &lt; 0:  </a:t>
            </a: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 — the flow is linearly stable to this mode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Linearizing the Equations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perturbed state into 2D Navier-Stokes; discard all O(ε²) terms: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533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Continuity (incompressibility)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1792" y="1737360"/>
            <a:ext cx="37856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∂û/∂x + ∂v̂/∂y = 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x-Momentum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2788920"/>
            <a:ext cx="79004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∂û/∂t + U ∂û/∂x + v̂ U' = −∂p̂/∂x + (1/Re)(∂²û/∂x² + ∂²û/∂y²)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y-Momentum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621792" y="3886200"/>
                <a:ext cx="7900416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300" i="1" dirty="0">
                    <a:solidFill>
                      <a:srgbClr val="1E3A5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∂w/∂t + U ∂w/∂x = −∂p̂/∂y + (1/Re)(∂²w/∂x² + ∂²w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US" sz="1300" i="1" smtClean="0">
                        <a:solidFill>
                          <a:srgbClr val="1E3A5F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a:t>Type equation here.</a:t>
                    </a:fld>
                  </m:oMath>
                </a14:m>
                <a:r>
                  <a:rPr lang="en-US" sz="1300" i="1" dirty="0">
                    <a:solidFill>
                      <a:srgbClr val="1E3A5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/∂y²)</a:t>
                </a:r>
                <a:endParaRPr lang="en-US" sz="13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" y="3886200"/>
                <a:ext cx="7900416" cy="594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457200" y="45902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U' = dU/dy is the base-state shear.   Nonlinear terms (û∂û/∂x, etc.) are O(ε²) and discarded.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Orr-Sommerfeld Equation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Fourth-order ODE governing linear stability of all parallel shear flows: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163B5E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(D² − α²)² w  =  iα Re [ (U − c)(D² − α²)w − U'' w ]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457200" y="2487168"/>
            <a:ext cx="4206240" cy="2331720"/>
          </a:xfrm>
          <a:prstGeom prst="roundRect">
            <a:avLst>
              <a:gd name="adj" fmla="val 3922"/>
            </a:avLst>
          </a:prstGeom>
          <a:solidFill>
            <a:srgbClr val="163B5E">
              <a:alpha val="70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— Viscous Term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(D² − α²)² 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Fourth-order operator representing viscous dissipation. Acts to damp perturbations at all scales.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92040" y="2487168"/>
            <a:ext cx="4206240" cy="2331720"/>
          </a:xfrm>
          <a:prstGeom prst="roundRect">
            <a:avLst>
              <a:gd name="adj" fmla="val 3922"/>
            </a:avLst>
          </a:prstGeom>
          <a:solidFill>
            <a:srgbClr val="163B5E">
              <a:alpha val="70000"/>
            </a:srgbClr>
          </a:solidFill>
          <a:ln w="19050">
            <a:solidFill>
              <a:srgbClr val="FCD34D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D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— Inertial Terms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97180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iαRe [(U−c)(D²−α²)w − U''w]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Convection by the base flow + base-state shear. The U'' term (curvature) can destabilize the flow.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8646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E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≡ d/dy   ·   Re = Reynolds number   ·   α = wavenumber   ·   c = complex wave speed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Constraining the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4th-order OS equation requires four boundary conditions (two per wall):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1874520"/>
          </a:xfrm>
          <a:prstGeom prst="roundRect">
            <a:avLst>
              <a:gd name="adj" fmla="val 4878"/>
            </a:avLst>
          </a:prstGeom>
          <a:solidFill>
            <a:srgbClr val="E8F4FD"/>
          </a:solidFill>
          <a:ln w="1905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99032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both rigid walls  ( y = +1  and  y = −1 ):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w(±1) =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9019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No-penetration — fluid cannot pass through the solid wall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20116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Dw(±1) = 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56032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No-slip — tangential velocity perturbation vanishes at the wall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10128"/>
            <a:ext cx="82296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Interpretation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conditions (2 walls × 2) constrain the 4th-order OS problem. Together they define a homogeneous boundary-value problem whose non-trivial solutions exist only for particular complex eigenvalues c = cᵣ + icᵢ. The totality of these eigenvalues constitutes the Orr-Sommerfeld eigenspectrum.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Eigenvalues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c = cᵣ + icᵢ encodes all temporal stability information: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21792"/>
          </a:xfrm>
          <a:prstGeom prst="roundRect">
            <a:avLst>
              <a:gd name="adj" fmla="val 14706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79004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ŵ  ∝  e^{iα(x − ct)}  =  e^{iα(x − cᵣ t)} · e^{α cᵢ t}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84832"/>
            <a:ext cx="2633472" cy="2743200"/>
          </a:xfrm>
          <a:prstGeom prst="roundRect">
            <a:avLst>
              <a:gd name="adj" fmla="val 4167"/>
            </a:avLst>
          </a:prstGeom>
          <a:solidFill>
            <a:srgbClr val="FEF2F2"/>
          </a:solidFill>
          <a:ln w="25400">
            <a:solidFill>
              <a:srgbClr val="DC262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cᵢ &gt; 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UNSTABLE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56432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grows exponentially as e^{αcᵢt}. Flow transitions to turbulence.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2084832"/>
            <a:ext cx="2633472" cy="274320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25400">
            <a:solidFill>
              <a:srgbClr val="D97706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10128" y="214884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01568" y="26517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cᵢ = 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1568" y="30632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Neutrally Stable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456432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amplitude. Perturbation propagates without growth or decay. Marks the stability boundary.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2084832"/>
            <a:ext cx="2633472" cy="274320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25400">
            <a:solidFill>
              <a:srgbClr val="16A34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163056" y="2148840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⬇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54496" y="2651760"/>
            <a:ext cx="2450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cᵢ &lt; 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54496" y="30632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Stable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54496" y="3456432"/>
            <a:ext cx="245059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decays as e^{αcᵢt} → 0. Laminar flow is robust against small disturbances.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Eigenvalue Spectrum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Rigid-wall benchmark: the Orr-Sommerfeld spectrum confirms the classical critical parameters.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572000" cy="3474720"/>
          </a:xfrm>
          <a:prstGeom prst="roundRect">
            <a:avLst>
              <a:gd name="adj" fmla="val 2632"/>
            </a:avLst>
          </a:prstGeom>
          <a:solidFill>
            <a:srgbClr val="DCE8F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eigen_spectra.png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12080" y="132588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E8F4FD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349240" y="138988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Parameters : RED DOT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49240" y="1874520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349240" y="187452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Reᶜ = 5772.22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49240" y="2450592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Reynolds number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49240" y="2715768"/>
            <a:ext cx="31546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49240" y="2715768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αᶜ = 1.02056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49240" y="3291840"/>
            <a:ext cx="3154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wavenumber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49240" y="36118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 = Reᶜ the Tollmien-Schlichting (TS) wave first becomes unstable. For Re &lt; Reᶜ all modes are damped.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C5C186-F2B4-3E14-7D03-3BD44215D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475994"/>
            <a:ext cx="3781425" cy="31536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403" y="0"/>
            <a:ext cx="7602347" cy="6644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Fluid Displacement Profiles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9456" y="2017014"/>
            <a:ext cx="8924544" cy="2783586"/>
          </a:xfrm>
          <a:prstGeom prst="roundRect">
            <a:avLst>
              <a:gd name="adj" fmla="val 2632"/>
            </a:avLst>
          </a:prstGeom>
          <a:solidFill>
            <a:srgbClr val="DCE8F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eigen_func.png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1650" y="909828"/>
            <a:ext cx="8467344" cy="98058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19456" y="153489"/>
            <a:ext cx="9629394" cy="1021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Classification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79008" y="184708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1650" y="398852"/>
            <a:ext cx="8093710" cy="1448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</a:t>
            </a:r>
            <a:r>
              <a:rPr lang="en-US" sz="1200" b="1" dirty="0" err="1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Tollmien</a:t>
            </a:r>
            <a:r>
              <a:rPr lang="en-US" sz="1200" b="1" dirty="0">
                <a:solidFill>
                  <a:srgbClr val="FF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-Schlichting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53489"/>
            <a:ext cx="8046720" cy="22849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TS wave. Concentrated near walls. First to become unstable at Reᶜ</a:t>
            </a: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79008" y="280720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1650" y="433034"/>
            <a:ext cx="8093710" cy="2250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0D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Centre Modes</a:t>
            </a:r>
            <a:endParaRPr lang="en-US" sz="1200" dirty="0">
              <a:solidFill>
                <a:srgbClr val="860D86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2859" y="329184"/>
            <a:ext cx="8046720" cy="2783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0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amplitude at channel centre y = 0. Always stable for Poiseuille flow</a:t>
            </a: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79008" y="3767328"/>
            <a:ext cx="256032" cy="256032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07050" y="-235240"/>
            <a:ext cx="4422775" cy="2919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Damped Wall Modes</a:t>
            </a:r>
            <a:endParaRPr lang="en-US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651500" y="-685800"/>
            <a:ext cx="3273044" cy="43629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decaying, confined close to walls. Require high N for accurate resolution.</a:t>
            </a:r>
            <a:endParaRPr lang="en-US" sz="11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10C482-69BB-53F4-E70A-B6D427FA6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575" y="2104427"/>
            <a:ext cx="6604634" cy="26060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 Stability Curve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stability boundary in wavenumber α vs Reynolds number Re space (cᵢ = 0 contour):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DCE8F5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Insert: neutral_curve.png 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87415" y="1307592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172200" y="13898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3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Curve 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8470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curve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7220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region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(cᵢ &gt; 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2761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Outside curve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1" y="30906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region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(cᵢ &lt; 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1" y="36758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09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point ★</a:t>
            </a:r>
            <a:endParaRPr lang="en-US" sz="1200" dirty="0">
              <a:solidFill>
                <a:srgbClr val="0909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72201" y="3602736"/>
            <a:ext cx="2377439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 ≈ 5772, α ≈ 1.02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46451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96B8AC-4D01-77A2-247F-3322C7016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7" y="1471226"/>
            <a:ext cx="4505325" cy="3220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Step: Melting Boundaries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rigid walls melt? The interface y = ±h(x,t) becomes dynamic.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987552"/>
          </a:xfrm>
          <a:prstGeom prst="roundRect">
            <a:avLst>
              <a:gd name="adj" fmla="val 11111"/>
            </a:avLst>
          </a:prstGeom>
          <a:solidFill>
            <a:srgbClr val="163B5E"/>
          </a:solidFill>
          <a:ln w="25400">
            <a:solidFill>
              <a:srgbClr val="0EA5E9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Stefan Condition: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 · ∂h/∂t  =  κₛ (∂Tₛ/∂y)|_{y=h⁺}  −  κₗ (∂Tₗ/∂y)|_{y=h⁻}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633472" cy="2359152"/>
          </a:xfrm>
          <a:prstGeom prst="roundRect">
            <a:avLst>
              <a:gd name="adj" fmla="val 4651"/>
            </a:avLst>
          </a:prstGeom>
          <a:solidFill>
            <a:srgbClr val="163B5E">
              <a:alpha val="80000"/>
            </a:srgbClr>
          </a:solidFill>
          <a:ln w="1905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Hydrodynamics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80360"/>
            <a:ext cx="23591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Perturbed NS equations with deforming boundaries. Interface h(x,t) couples into the kinematic and stress BCs.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2423160"/>
            <a:ext cx="2633472" cy="2359152"/>
          </a:xfrm>
          <a:prstGeom prst="roundRect">
            <a:avLst>
              <a:gd name="adj" fmla="val 4651"/>
            </a:avLst>
          </a:prstGeom>
          <a:solidFill>
            <a:srgbClr val="163B5E">
              <a:alpha val="80000"/>
            </a:srgbClr>
          </a:solidFill>
          <a:ln w="19050">
            <a:solidFill>
              <a:srgbClr val="FB923C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47288" y="248716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 Transfer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7288" y="2880360"/>
            <a:ext cx="23591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and solid temperature fields Tₗ, Tₛ governed by advection-diffusion in their respective domains.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056" y="2423160"/>
            <a:ext cx="2633472" cy="2359152"/>
          </a:xfrm>
          <a:prstGeom prst="roundRect">
            <a:avLst>
              <a:gd name="adj" fmla="val 4651"/>
            </a:avLst>
          </a:prstGeom>
          <a:solidFill>
            <a:srgbClr val="163B5E">
              <a:alpha val="8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0216" y="2487168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0216" y="2880360"/>
            <a:ext cx="23591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condition links melt-rate to heat flux balance. Opens new instability pathways absent in rigid-wall flow.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EAA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does melting stabilize or destabilize the channel flow — and through which physical mechanism?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1769</Words>
  <Application>Microsoft Office PowerPoint</Application>
  <PresentationFormat>On-screen Show (16:9)</PresentationFormat>
  <Paragraphs>176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Stability of Channel Flow with Melting Walls</dc:title>
  <dc:subject>PptxGenJS Presentation</dc:subject>
  <dc:creator>Mohd Izhan Khan</dc:creator>
  <cp:lastModifiedBy>Izhan Khan</cp:lastModifiedBy>
  <cp:revision>3</cp:revision>
  <dcterms:created xsi:type="dcterms:W3CDTF">2026-06-28T17:37:13Z</dcterms:created>
  <dcterms:modified xsi:type="dcterms:W3CDTF">2026-06-29T09:33:33Z</dcterms:modified>
</cp:coreProperties>
</file>